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开场：一句话定位。这不是一篇'特斯拉有没有反重力'的考证文，而是一张把'统一/反重力'所有说法变成可检验命题的地图。今天汇报按证据地图展开：为什么现在重要、三个主题、争议、判决矩阵、未来方向。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强调时点性：三个时间尺度上的实验进展把'量子引力'从哲学问题变成了工程问题。判决矩阵的每一行都对应一个正在进行的实验。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讲解三种分类时各举一个例子：转换式=特斯拉传说；几何式=Kaluza-Klein；代数式=double copy。强调'失败方式不同'这个判据比'对错'更有信息量。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七层从观测量到未知结构。重点讲 Layer 4 的'唯一入口'标注：在 GR+SM 内，一切工程操作对运动的影响都由它对 Tμν 的影响决定。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讲清楚'因子 2'：压强也进 Tμν，所以电磁场的引力源是其能量密度的两倍——这是论文第十二节'关键变量是压力'的数值演示。Schwinger 反推是全文最强的段落。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强调'窗口已知'：不是'额外维被证伪'，而是'可测窗口被压缩到 neV 且探测器就位'。这是对 Kaluza-Klein 最诚实的状态描述。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三个事实逐个过一遍，重点落在 Ehlers=电磁对偶的平方：这是把 Tesla 的问题从'转换'翻译成'代数'的钥匙。Holton 的坍缩结果是防止过度解读的刹车。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这是'箭头纪律'的活例子：观测到 O 不能证明理论 A，如果理论 B 也能产生 O。争议本身比结论更有价值——它教会我们什么才算判决。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整页给图。强调方法论：每行必须携带判决通道+判决对象+时间尺度，16/19 行有可复现脚本支撑。这是论文的最终交付物。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定理本身近乎同义反复——价值在假设的完备性：(A1)(A2)(A3) 穷尽 GR 内所有控制通道。推论 2 是最接近原创的单个命题。诚实声明：这是分类性陈述，不是新现象预言。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逐行读表，强调每个数字对应一个判决矩阵行。Céleri 的'装置反冲'是 2026 年新约束，说明叠加制备的极限不只是环境退相干。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这是第 18 行'纠缠→几何'的玩具骨架。强调边界：全息对偶内部是严格的，对真实宇宙仍是 C 级假说。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每一条都有判决对象和时间尺度——这就是'路线图'与'愿望清单'的区别。重点提 QGEM 首轮与核钟，它们是最可能改变矩阵的两条。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收束：三层命题是全文的压缩。最后一句点出'地图是交付物'——本论文不预言新现象，它把模糊野心变成可检验命题。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收尾页。留时间回答提问：最常见的问题是'这是不是反重力论文'——回答：不是，这是关于'为什么反重力说法全部失败以及真正开放的问题在哪里'的地图。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从特斯拉到时空工程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54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CCDD"/>
                </a:solidFill>
                <a:latin typeface="Microsoft YaHei"/>
                <a:ea typeface="Microsoft YaHei"/>
              </a:rPr>
              <a:t>统一场、量子现实与可编程时空 · 论文汇报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999AA"/>
                </a:solidFill>
                <a:latin typeface="Microsoft YaHei"/>
                <a:ea typeface="Microsoft YaHei"/>
              </a:rPr>
              <a:t>作者 MuningAn · 机构 PlanetarySystem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99"/>
                </a:solidFill>
                <a:latin typeface="Microsoft YaHei"/>
                <a:ea typeface="Microsoft YaHei"/>
              </a:rPr>
              <a:t>90 节全稿 + 19 行判决矩阵 + 16 份可复现脚本 · github.com/everest-an/Antigravity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为什么这个主题现在重要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980B9"/>
                </a:solidFill>
                <a:latin typeface="Microsoft YaHei"/>
                <a:ea typeface="Microsoft YaHei"/>
              </a:rPr>
              <a:t>桌面量子引力正处于爆发期</a:t>
            </a:r>
          </a:p>
          <a:p>
            <a:pPr algn="l"/>
            <a:r>
              <a:rPr sz="1400" b="0">
                <a:solidFill>
                  <a:srgbClr val="1B1B2B"/>
                </a:solidFill>
                <a:latin typeface="Microsoft YaHei"/>
                <a:ea typeface="Microsoft YaHei"/>
              </a:rPr>
              <a:t>2017 年 BMV 提出'引力中介纠缠'实验后，这一领域在 2024–2026 年同时成熟了三条硬件路线：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· 大质量叠加：纳米金刚石 Stern-Gerlach 干涉仪（Folman 组七份技术笔记，40 kHz 阱、UV 中和全部到位）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· 时空涨落探测：GQuEST 光子计数干涉仪（PRX 2025），把'时空噪声'变成有灵敏度的实验指标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· 核钟：Th-229 直接激光激发（148 nm）+ 无自旋宿主晶体，neV 窗口的探测器已就位</a:t>
            </a:r>
          </a:p>
          <a:p>
            <a:pPr algn="l"/>
            <a:r>
              <a:rPr sz="1400" b="0">
                <a:solidFill>
                  <a:srgbClr val="1B1B2B"/>
                </a:solidFill>
                <a:latin typeface="Microsoft YaHei"/>
                <a:ea typeface="Microsoft YaHei"/>
              </a:rPr>
              <a:t>同时，'统一场论'这个词在大众传播中仍然与反重力传说绑定。</a:t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Microsoft YaHei"/>
                <a:ea typeface="Microsoft YaHei"/>
              </a:rPr>
              <a:t>本论文的时点价值：把'什么命题还活着、用什么实验判决、花多少钱'第一次做成一张可复现的地图。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188720"/>
          <a:ext cx="49377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5943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里程碑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对判决矩阵的意义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Panda 格点原子干涉 6.2 nm/s²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第 13 行：屏蔽第五力排除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2025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GQuEST PRX / Aziz–Howl Nature 争论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第 15 行通道 + 第 6/7 行方法论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Th-229 无自旋宿主 / Céleri 反冲约束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第 12 行窗口 + 叠加制备新边界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来源：实验路线图.md 第七十六节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概念框架：三种统一分类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2B"/>
                </a:solidFill>
                <a:latin typeface="Microsoft YaHei"/>
                <a:ea typeface="Microsoft YaHei"/>
              </a:rPr>
              <a:t>'统一场论'是三个不同主张的混用。它们证据不同、失败方式不同、判决实验不同。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Microsoft YaHei"/>
                <a:ea typeface="Microsoft YaHei"/>
              </a:rPr>
              <a:t>这是全篇的组织原则，也是本文的第一个原创贡献。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206240"/>
                <a:gridCol w="2560320"/>
                <a:gridCol w="2743200"/>
              </a:tblGrid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类型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命题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失败方式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判决通道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转换式
Transformational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A 场物理地转化为 B 场
（Tesla / 张祥前路线）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定量失败
（初等算术）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Schwinger 极限反推
+ 第五力全景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几何式
Geometrical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A、B 是高维几何的投影
（Kaluza–Klein）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窗口收窄
（未被排除）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轨道约束 + Th-229
核钟 neV 窗口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代数式
Algebraic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A、B 共享更深代数
（double copy）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本体论沉默
（数学成立）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不可直接判决
（归纳问题）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icrosoft YaHei"/>
                <a:ea typeface="Microsoft YaHei"/>
              </a:rPr>
              <a:t>要点：三个断言类别，而非三个候选理论。混淆它们，是大众传播里百年混乱的根源。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来源：核心命题-形式化.md；投稿-概念论文.md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全局地图：Reality Stack 七层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04</a:t>
            </a:r>
          </a:p>
        </p:txBody>
      </p:sp>
      <p:pic>
        <p:nvPicPr>
          <p:cNvPr id="5" name="Picture 4" descr="fig02_reality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051560"/>
            <a:ext cx="5663167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980B9"/>
                </a:solidFill>
                <a:latin typeface="Microsoft YaHei"/>
                <a:ea typeface="Microsoft YaHei"/>
              </a:rPr>
              <a:t>人类在测量栈上远远领先，在控制栈上几乎空白——这正是'Gravity is the wrong engineering variable'的含义。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图 2：Reality Stack（figures/02_reality_stack.py 生成）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主题一：转换式统一已被定量证伪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6309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1B2B"/>
                </a:solidFill>
                <a:latin typeface="Microsoft YaHei"/>
                <a:ea typeface="Microsoft YaHei"/>
              </a:rPr>
              <a:t>问题：变化的电磁场能产生引力吗？</a:t>
            </a:r>
          </a:p>
          <a:p>
            <a:pPr algn="l"/>
            <a:r>
              <a:rPr sz="1400" b="0">
                <a:solidFill>
                  <a:srgbClr val="1B1B2B"/>
                </a:solidFill>
                <a:latin typeface="Microsoft YaHei"/>
                <a:ea typeface="Microsoft YaHei"/>
              </a:rPr>
              <a:t>能——Tμν 里既有能量又有压强（因子 2），但量级如何？</a:t>
            </a:r>
          </a:p>
          <a:p>
            <a:pPr algn="l"/>
            <a:r>
              <a:rPr sz="1400" b="0">
                <a:solidFill>
                  <a:srgbClr val="1B1B2B"/>
                </a:solidFill>
                <a:latin typeface="Microsoft YaHei"/>
                <a:ea typeface="Microsoft YaHei"/>
              </a:rPr>
              <a:t>正面：1 m³、10 MV/m 的电容器产生 ~10⁻²⁵ m/s² 引力，比地球小 25 个数量级。</a:t>
            </a:r>
          </a:p>
          <a:p>
            <a:pPr algn="l"/>
            <a:r>
              <a:rPr sz="1400" b="0">
                <a:solidFill>
                  <a:srgbClr val="C0392B"/>
                </a:solidFill>
                <a:latin typeface="Microsoft YaHei"/>
                <a:ea typeface="Microsoft YaHei"/>
              </a:rPr>
              <a:t>反推：要产生地球级引力，需要场强达到 Schwinger 极限的 ~8 倍——该处真空已不稳定，你制造的是物质而非反重力。</a:t>
            </a:r>
          </a:p>
          <a:p>
            <a:pPr algn="l"/>
            <a:r>
              <a:rPr sz="1400" b="1">
                <a:solidFill>
                  <a:srgbClr val="1B1B2B"/>
                </a:solidFill>
                <a:latin typeface="Microsoft YaHei"/>
                <a:ea typeface="Microsoft YaHei"/>
              </a:rPr>
              <a:t>结论：转换式统一的实验室版本被两条算术关闭，无需任何新物理。</a:t>
            </a:r>
          </a:p>
          <a:p>
            <a:pPr algn="l"/>
            <a:r>
              <a:rPr sz="600" b="0">
                <a:solidFill>
                  <a:srgbClr val="1B1B2B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反推公式：</a:t>
            </a:r>
          </a:p>
          <a:p>
            <a:pPr algn="l"/>
            <a:r>
              <a:rPr sz="1300" b="0">
                <a:solidFill>
                  <a:srgbClr val="2980B9"/>
                </a:solidFill>
                <a:latin typeface="Microsoft YaHei"/>
                <a:ea typeface="Microsoft YaHei"/>
              </a:rPr>
              <a:t>E_needed = √(2ρ/ε₀)，ρ = g c²/(8π G L)</a:t>
            </a:r>
          </a:p>
        </p:txBody>
      </p:sp>
      <p:pic>
        <p:nvPicPr>
          <p:cNvPr id="6" name="Picture 5" descr="fig04_fifth_fo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34440"/>
            <a:ext cx="4846320" cy="35871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图：第五力约束全景；模拟 02（EM 场引力效应）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主题二：几何式统一的 neV 窗口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2B"/>
                </a:solidFill>
                <a:latin typeface="Microsoft YaHei"/>
                <a:ea typeface="Microsoft YaHei"/>
              </a:rPr>
              <a:t>Kaluza–Klein：额外维的引力子模式给出 Yukawa 修正</a:t>
            </a:r>
          </a:p>
          <a:p>
            <a:pPr algn="l"/>
            <a:r>
              <a:rPr sz="1400" b="0">
                <a:solidFill>
                  <a:srgbClr val="2980B9"/>
                </a:solidFill>
                <a:latin typeface="Microsoft YaHei"/>
                <a:ea typeface="Microsoft YaHei"/>
              </a:rPr>
              <a:t>V(r) = −(Gm₁m₂/r)(1 + α e^(−r/λ))</a:t>
            </a:r>
          </a:p>
          <a:p>
            <a:pPr algn="l"/>
            <a:r>
              <a:rPr sz="1400" b="0">
                <a:solidFill>
                  <a:srgbClr val="2980B9"/>
                </a:solidFill>
                <a:latin typeface="Microsoft YaHei"/>
                <a:ea typeface="Microsoft YaHei"/>
              </a:rPr>
              <a:t>引力 AB 实验把它变成能级分裂：ΔE = m_sys · α · ΔΦ(r,λ)</a:t>
            </a:r>
          </a:p>
          <a:p>
            <a:pPr algn="l"/>
            <a:r>
              <a:rPr sz="1400" b="0">
                <a:solidFill>
                  <a:srgbClr val="1B1B2B"/>
                </a:solidFill>
                <a:latin typeface="Microsoft YaHei"/>
                <a:ea typeface="Microsoft YaHei"/>
              </a:rPr>
              <a:t>文献宣称的 eV（核）/ meV（原子）级分裂需要 α ~ 0.4 / 10⁻³——被轨道第五力约束排除 4–8 个数量级。</a:t>
            </a:r>
          </a:p>
          <a:p>
            <a:pPr algn="l"/>
            <a:r>
              <a:rPr sz="1400" b="1">
                <a:solidFill>
                  <a:srgbClr val="27AE60"/>
                </a:solidFill>
                <a:latin typeface="Microsoft YaHei"/>
                <a:ea typeface="Microsoft YaHei"/>
              </a:rPr>
              <a:t>真正开放的窗口在 neV 量级，探测器硬件链已全部就位。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280160"/>
          <a:ext cx="49377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5120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核钟节点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148.18 nm 直接激发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已实现（Nat Commun 2024）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CaF₂ 宿主寿命 641 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已测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无自旋宿主 Th(SO₄)₂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潜在稳定度 4.6×10⁻²³/√τ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X 射线淬灭读出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周期加速 ≥50 倍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4114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Microsoft YaHei"/>
                <a:ea typeface="Microsoft YaHei"/>
              </a:rPr>
              <a:t>几何式统一不再是一个模糊希望：它是一个有确定仪器、确定能量窗口的测量计划。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来源：研究缺口补齐.md A 节；experiments/05、08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主题三：代数式统一——数学成立，本体论沉默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2B"/>
                </a:solidFill>
                <a:latin typeface="Microsoft YaHei"/>
                <a:ea typeface="Microsoft YaHei"/>
              </a:rPr>
              <a:t>double copy 的三个代数事实：</a:t>
            </a:r>
          </a:p>
          <a:p>
            <a:pPr algn="l"/>
            <a:r>
              <a:rPr sz="1400" b="0">
                <a:solidFill>
                  <a:srgbClr val="1B1B2B"/>
                </a:solidFill>
                <a:latin typeface="Microsoft YaHei"/>
                <a:ea typeface="Microsoft YaHei"/>
              </a:rPr>
              <a:t>· off-shell N=8 超引力 = (N=4 超杨-米尔斯)²（三次阶）——Bonezzi–Casale–Hohm 2025</a:t>
            </a:r>
          </a:p>
          <a:p>
            <a:pPr algn="l"/>
            <a:r>
              <a:rPr sz="1400" b="0">
                <a:solidFill>
                  <a:srgbClr val="1B1B2B"/>
                </a:solidFill>
                <a:latin typeface="Microsoft YaHei"/>
                <a:ea typeface="Microsoft YaHei"/>
              </a:rPr>
              <a:t>· 相干态规范背景上的振幅 double copy 到弯曲时空，metric 由规范背景构造——Ilderton–Lindved 2025</a:t>
            </a:r>
          </a:p>
          <a:p>
            <a:pPr algn="l"/>
            <a:r>
              <a:rPr sz="1400" b="0">
                <a:solidFill>
                  <a:srgbClr val="1B1B2B"/>
                </a:solidFill>
                <a:latin typeface="Microsoft YaHei"/>
                <a:ea typeface="Microsoft YaHei"/>
              </a:rPr>
              <a:t>· Ehlers 变换 = 电磁对偶的 double copy——Alawadhi 2023（Tesla 梦寐以求的'EM↔引力关系'，其现代形态是代数平方）</a:t>
            </a:r>
          </a:p>
          <a:p>
            <a:pPr algn="l"/>
            <a:r>
              <a:rPr sz="1400" b="0">
                <a:solidFill>
                  <a:srgbClr val="C0392B"/>
                </a:solidFill>
                <a:latin typeface="Microsoft YaHei"/>
                <a:ea typeface="Microsoft YaHei"/>
              </a:rPr>
              <a:t>但边界同样明确：Schwarzschild 的剩余规范代数在引力侧坍缩为有限等距群（Holton 2025）——共享代数结构不等于共享物理内容。</a:t>
            </a:r>
          </a:p>
          <a:p>
            <a:pPr algn="l"/>
            <a:r>
              <a:rPr sz="600" b="0">
                <a:solidFill>
                  <a:srgbClr val="1B1B2B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400" b="1">
                <a:solidFill>
                  <a:srgbClr val="1B1B2B"/>
                </a:solidFill>
                <a:latin typeface="Microsoft YaHei"/>
                <a:ea typeface="Microsoft YaHei"/>
              </a:rPr>
              <a:t>诚实结论：代数式统一是真实的数学结构，其本体论地位不可由计算判决——这是对 double copy 能声称什么的最精确边界。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来源：时空之前是什么.md 第六十二节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争议：纠缠能否证明引力是量子的？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6309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1B2B"/>
                </a:solidFill>
                <a:latin typeface="Microsoft YaHei"/>
                <a:ea typeface="Microsoft YaHei"/>
              </a:rPr>
              <a:t>2025 年 Nature 争论的时间线：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① BMV 逻辑：两质量只经引力作用产生纠缠 ⇒ 中介非经典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② Aziz–Howl：'经典引力 + 量子场物质'也能产生纠缠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③ Marletto 等反驳：非相对论极限下相互作用超局域，无纠缠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④ 2026 解剖：Aziz–Howl 效应是物质扇区串扰（不同物质种类时归零）</a:t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Microsoft YaHei"/>
                <a:ea typeface="Microsoft YaHei"/>
              </a:rPr>
              <a:t>方法论结论：GIE 是 LOCC 排除器，不是'一切经典'的排除器；</a:t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Microsoft YaHei"/>
                <a:ea typeface="Microsoft YaHei"/>
              </a:rPr>
              <a:t>需要一个理论歧视树，而非一锤定音实验。</a:t>
            </a:r>
          </a:p>
          <a:p>
            <a:pPr algn="l"/>
            <a:r>
              <a:rPr sz="600" b="0">
                <a:solidFill>
                  <a:srgbClr val="1B1B2B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我们的数值实现：量子引力 N≈0.078（CHSH 违背 0.024），平均场/LOCC 严格为零；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qubit 抽象忠实性误差 ~e^(−2α²)（α=2 时 ~10⁻⁴）。</a:t>
            </a:r>
          </a:p>
        </p:txBody>
      </p:sp>
      <p:pic>
        <p:nvPicPr>
          <p:cNvPr id="6" name="Picture 5" descr="fig05_gie_discrim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34440"/>
            <a:ext cx="4754880" cy="21908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图：GIE 三模型歧视（模拟 01/06）；来源：第六十四节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判决矩阵：19 个箭头的当前状态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09</a:t>
            </a:r>
          </a:p>
        </p:txBody>
      </p:sp>
      <p:pic>
        <p:nvPicPr>
          <p:cNvPr id="5" name="Picture 4" descr="fig01_deci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005840"/>
            <a:ext cx="5048403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1B2B"/>
                </a:solidFill>
                <a:latin typeface="Microsoft YaHei"/>
                <a:ea typeface="Microsoft YaHei"/>
              </a:rPr>
              <a:t>统计：4 不成立 + 2 成立（电与磁、电弱）+ 1 分类陈述 + 4 个 A 级事实 + 9 行 B/C 级（均有判决对象与时间尺度）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图 1：判决矩阵全图（19 行）；来源：实验路线图.md 第八十三节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中心定理：工程控制通道唯一性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2B"/>
                </a:solidFill>
                <a:latin typeface="Microsoft YaHei"/>
                <a:ea typeface="Microsoft YaHei"/>
              </a:rPr>
              <a:t>在 GR + SM 内，若工程操作满足 (A1) 源不变、(A2) 度规不被直接修改、(A3) 无新通道，则它不改变任何测地线运动。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68880"/>
            <a:ext cx="3566160" cy="2377440"/>
          </a:xfrm>
          <a:prstGeom prst="rect">
            <a:avLst/>
          </a:prstGeom>
          <a:solidFill>
            <a:srgbClr val="F5F5F7"/>
          </a:solidFill>
          <a:ln w="2032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Microsoft YaHei"/>
                <a:ea typeface="Microsoft YaHei"/>
              </a:rPr>
              <a:t>违反 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1B2B"/>
                </a:solidFill>
                <a:latin typeface="Microsoft YaHei"/>
                <a:ea typeface="Microsoft YaHei"/>
              </a:rPr>
              <a:t>改变 Tμν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能量/压强/流工程——GR 允许的全部'惯性工程'，即普通能量工程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468880"/>
            <a:ext cx="3566160" cy="2377440"/>
          </a:xfrm>
          <a:prstGeom prst="rect">
            <a:avLst/>
          </a:prstGeom>
          <a:solidFill>
            <a:srgbClr val="F5F5F7"/>
          </a:solidFill>
          <a:ln w="2032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980B9"/>
                </a:solidFill>
                <a:latin typeface="Microsoft YaHei"/>
                <a:ea typeface="Microsoft YaHei"/>
              </a:rPr>
              <a:t>违反 A2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1B2B"/>
                </a:solidFill>
                <a:latin typeface="Microsoft YaHei"/>
                <a:ea typeface="Microsoft YaHei"/>
              </a:rPr>
              <a:t>直接写度规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6118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度规工程——需非常规物质或修改引力（warp-drive no-go 文献是其特殊情形）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468880"/>
            <a:ext cx="3566160" cy="2377440"/>
          </a:xfrm>
          <a:prstGeom prst="rect">
            <a:avLst/>
          </a:prstGeom>
          <a:solidFill>
            <a:srgbClr val="F5F5F7"/>
          </a:solidFill>
          <a:ln w="2032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E44AD"/>
                </a:solidFill>
                <a:latin typeface="Microsoft YaHei"/>
                <a:ea typeface="Microsoft YaHei"/>
              </a:rPr>
              <a:t>违反 A3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1B2B"/>
                </a:solidFill>
                <a:latin typeface="Microsoft YaHei"/>
                <a:ea typeface="Microsoft YaHei"/>
              </a:rPr>
              <a:t>引入新通道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6118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第五力 / LIV / GUP——判决矩阵第 13、19 行，已被大量排除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120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icrosoft YaHei"/>
                <a:ea typeface="Microsoft YaHei"/>
              </a:rPr>
              <a:t>推论 2（杠杆效力）：质量分解的每一成分作为引力工程杠杆的效力 = ∂Tμν/∂该成分——改 Higgs 只动 ~9% 的质子质量项，改 QCD 动 ~91%，改'真空'在定义层失败。</a:t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Microsoft YaHei"/>
                <a:ea typeface="Microsoft YaHei"/>
              </a:rPr>
              <a:t>推论 3：超材料负有效质量是色散关系工程，不改 Tμν——与引力无关。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来源：核心命题-形式化.md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可复现性：每个箭头都有数字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384048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箭头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关键数字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含义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GIE 纠缠相位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φ = 0.217 rad（基准）vs 10⁻⁶~10⁻⁵（芯片参数）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3σ 认证从 200 次 → 10⁹–10²¹ 次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geontropic 涨落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强档 0.03 s vs 弱档 10³³ 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可证伪窗口只在强档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frame dragging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距读出能力 ~7 个数量级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10 年+，缺口主要在源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KK 分裂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eV 窗口排除 4–8 个数量级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neV 窗口由核钟接管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装置反冲（Céleri）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1 kg@1K 装置封顶 10⁹ u 叠加于 ~100 μm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B"/>
                          </a:solidFill>
                          <a:latin typeface="Microsoft YaHei"/>
                          <a:ea typeface="Microsoft YaHei"/>
                        </a:rPr>
                        <a:t>MAQRO 量级的真实约束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120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1B2B"/>
                </a:solidFill>
                <a:latin typeface="Microsoft YaHei"/>
                <a:ea typeface="Microsoft YaHei"/>
              </a:rPr>
              <a:t>16 份脚本（9 核算 + 7 模拟）全部通过；两张关键图（判决矩阵、第五力全景）直接由脚本生成。</a:t>
            </a:r>
          </a:p>
          <a:p>
            <a:pPr algn="l"/>
            <a:r>
              <a:rPr sz="1400" b="1">
                <a:solidFill>
                  <a:srgbClr val="2980B9"/>
                </a:solidFill>
                <a:latin typeface="Microsoft YaHei"/>
                <a:ea typeface="Microsoft YaHei"/>
              </a:rPr>
              <a:t>'核算之前和之后，一条箭头是两个不同的对象'——论文的全部方法论就是把箭头变成可称量的对象。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来源：experiments/ 与 simulations/ 全部脚本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纠缠 → 几何：RT 极小面的玩具实现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12</a:t>
            </a:r>
          </a:p>
        </p:txBody>
      </p:sp>
      <p:pic>
        <p:nvPicPr>
          <p:cNvPr id="5" name="Picture 4" descr="fig03_rt_min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188720"/>
            <a:ext cx="6583680" cy="5360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37160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1B2B"/>
                </a:solidFill>
                <a:latin typeface="Microsoft YaHei"/>
                <a:ea typeface="Microsoft YaHei"/>
              </a:rPr>
              <a:t>等距树张量网络中：</a:t>
            </a:r>
          </a:p>
          <a:p>
            <a:pPr algn="l"/>
            <a:r>
              <a:rPr sz="1400" b="0">
                <a:solidFill>
                  <a:srgbClr val="2980B9"/>
                </a:solidFill>
                <a:latin typeface="Microsoft YaHei"/>
                <a:ea typeface="Microsoft YaHei"/>
              </a:rPr>
              <a:t>S₂(A) ≈ mincut(A)·lnχ</a:t>
            </a:r>
          </a:p>
          <a:p>
            <a:pPr algn="l"/>
            <a:r>
              <a:rPr sz="1200" b="0">
                <a:solidFill>
                  <a:srgbClr val="1B1B2B"/>
                </a:solidFill>
                <a:latin typeface="Microsoft YaHei"/>
                <a:ea typeface="Microsoft YaHei"/>
              </a:rPr>
              <a:t>· 半树与相邻两叶同属 mincut=1 类——熵由极小面决定，而非 |A|</a:t>
            </a:r>
          </a:p>
          <a:p>
            <a:pPr algn="l"/>
            <a:r>
              <a:rPr sz="1200" b="0">
                <a:solidFill>
                  <a:srgbClr val="1B1B2B"/>
                </a:solidFill>
                <a:latin typeface="Microsoft YaHei"/>
                <a:ea typeface="Microsoft YaHei"/>
              </a:rPr>
              <a:t>· 远离两叶给出 ~2 倍熵——'断开的极小面'（玩具层的相变骨架）</a:t>
            </a:r>
          </a:p>
          <a:p>
            <a:pPr algn="l"/>
            <a:r>
              <a:rPr sz="1200" b="0">
                <a:solidFill>
                  <a:srgbClr val="1B1B2B"/>
                </a:solidFill>
                <a:latin typeface="Microsoft YaHei"/>
                <a:ea typeface="Microsoft YaHei"/>
              </a:rPr>
              <a:t>· 手写树与 quimb 原生两种独立实现互验</a:t>
            </a:r>
          </a:p>
          <a:p>
            <a:pPr algn="l"/>
            <a:r>
              <a:rPr sz="1200" b="0">
                <a:solidFill>
                  <a:srgbClr val="1B1B2B"/>
                </a:solidFill>
                <a:latin typeface="Microsoft YaHei"/>
                <a:ea typeface="Microsoft YaHei"/>
              </a:rPr>
              <a:t>· O(1/χ²) 有限键修正 = 大 N 极限的玩具对应</a:t>
            </a:r>
          </a:p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 typeface="Microsoft YaHei"/>
              </a:rPr>
              <a:t>保真度声明：机制演示，不是'真实宇宙由张量网络构成'的证据（判决矩阵第 18 行，C 级）。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图 3：RT 极小面互验（模拟 05/07）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未来方向：近 / 中 / 远期行动清单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3566160" cy="4663440"/>
          </a:xfrm>
          <a:prstGeom prst="rect">
            <a:avLst/>
          </a:prstGeom>
          <a:solidFill>
            <a:srgbClr val="F5F5F7"/>
          </a:solidFill>
          <a:ln w="1778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Microsoft YaHei"/>
                <a:ea typeface="Microsoft YaHei"/>
              </a:rPr>
              <a:t>近期 3–5 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8308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GQuEST 首轮数据（第 15 行）</a:t>
            </a:r>
          </a:p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reservoir-engineered GIE（Q 因子降一个量级）</a:t>
            </a:r>
          </a:p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CSS WEP 系统误差账本</a:t>
            </a:r>
          </a:p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钍核钟 10⁻¹⁸ 稳定度</a:t>
            </a:r>
          </a:p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Céleri 反冲约束实验验证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188720"/>
            <a:ext cx="3566160" cy="4663440"/>
          </a:xfrm>
          <a:prstGeom prst="rect">
            <a:avLst/>
          </a:prstGeom>
          <a:solidFill>
            <a:srgbClr val="F5F5F7"/>
          </a:solidFill>
          <a:ln w="1778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980B9"/>
                </a:solidFill>
                <a:latin typeface="Microsoft YaHei"/>
                <a:ea typeface="Microsoft YaHei"/>
              </a:rPr>
              <a:t>中期 5–10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178308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QGEM 首轮（纳米金刚石 SGI）</a:t>
            </a:r>
          </a:p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引力 AB 的区分几何设计</a:t>
            </a:r>
          </a:p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LMT 10⁻¹⁷ WEP（STE-QUEST 规格）</a:t>
            </a:r>
          </a:p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MAQRO 级空间任务（坍缩模型判决）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188720"/>
            <a:ext cx="3566160" cy="4663440"/>
          </a:xfrm>
          <a:prstGeom prst="rect">
            <a:avLst/>
          </a:prstGeom>
          <a:solidFill>
            <a:srgbClr val="F5F5F7"/>
          </a:solidFill>
          <a:ln w="1778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E44AD"/>
                </a:solidFill>
                <a:latin typeface="Microsoft YaHei"/>
                <a:ea typeface="Microsoft YaHei"/>
              </a:rPr>
              <a:t>远期 10 年+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78308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frame-dragging GIE（缺口 ~7 量级）</a:t>
            </a:r>
          </a:p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bolometric 引力子噪声</a:t>
            </a:r>
          </a:p>
          <a:p>
            <a:pPr algn="l"/>
            <a:r>
              <a:rPr sz="1150" b="0">
                <a:solidFill>
                  <a:srgbClr val="1B1B2B"/>
                </a:solidFill>
                <a:latin typeface="Microsoft YaHei"/>
                <a:ea typeface="Microsoft YaHei"/>
              </a:rPr>
              <a:t>· 量子因果结构（Hardy QEP）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来源：物理现实的工程学边界.md 第八十八节（12 条行动清单）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总结：核心命题三层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Microsoft YaHei"/>
                <a:ea typeface="Microsoft YaHei"/>
              </a:rPr>
              <a:t>历史层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78308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Tesla 与张祥前式的'转换式统一'没有实验依据，但他们的提问——世界背后是否有统一动力结构——是现代基础物理的真实问题。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Microsoft YaHei"/>
                <a:ea typeface="Microsoft YaHei"/>
              </a:rPr>
              <a:t>物理层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1089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Gravity 是错误工程变量；Inertia 也是；唯一入口是 Tμν，而 Tμν 的正确工程名字叫'能量工程'。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34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Microsoft YaHei"/>
                <a:ea typeface="Microsoft YaHei"/>
              </a:rPr>
              <a:t>前沿层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43484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Tμν 本身可能是派生的。真正的源变量候选：量子态、运动学代数、关系结构——每个都有已排期的实验。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C642"/>
                </a:solidFill>
                <a:latin typeface="Microsoft YaHei"/>
                <a:ea typeface="Microsoft YaHei"/>
              </a:rPr>
              <a:t>反重力如果存在，不会是一台抵抗引力的机器——而地图的第一步已经完成：19 行，16 份脚本，全部可复现。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0392B"/>
                </a:solidFill>
                <a:latin typeface="Microsoft YaHei"/>
                <a:ea typeface="Microsoft YaHei"/>
              </a:rPr>
              <a:t>参考文献与代码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2194560" cy="279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66666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2B"/>
                </a:solidFill>
                <a:latin typeface="Microsoft YaHei"/>
                <a:ea typeface="Microsoft YaHei"/>
              </a:rPr>
              <a:t>全部可复现资产：github.com/everest-an/Antigravity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· 论文全稿：90 节 + 严谨化附件 A–G（中英双语，PDF 版在 build/ 目录）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· 核算 9 份 + 模拟 7 份（run_all.py 一键全跑，0 失败）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· 投稿图 5 幅（PNG + SVG，脚本生成）</a:t>
            </a:r>
          </a:p>
          <a:p>
            <a:pPr algn="l"/>
            <a:r>
              <a:rPr sz="1300" b="0">
                <a:solidFill>
                  <a:srgbClr val="1B1B2B"/>
                </a:solidFill>
                <a:latin typeface="Microsoft YaHei"/>
                <a:ea typeface="Microsoft YaHei"/>
              </a:rPr>
              <a:t>· 参考文献总表 ~110 条（含预印本/同行评议状态标注）</a:t>
            </a:r>
          </a:p>
          <a:p>
            <a:pPr algn="l"/>
            <a:r>
              <a:rPr sz="600" b="0">
                <a:solidFill>
                  <a:srgbClr val="1B1B2B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150" b="0">
                <a:solidFill>
                  <a:srgbClr val="666666"/>
                </a:solidFill>
                <a:latin typeface="Microsoft YaHei"/>
                <a:ea typeface="Microsoft YaHei"/>
              </a:rPr>
              <a:t>核心文献：Bose et al. PRL 2017 · Fedida–Kent PRD 2025 · Salzger–Vilasini arXiv:2605.08351 · GQuEST PRX 2025 · Derevianko et al. Colloquium 2026 · Bobrick–Martire CQG 2021 · Barzegar et al. arXiv:2602.16495</a:t>
            </a:r>
          </a:p>
          <a:p>
            <a:pPr algn="l"/>
            <a:r>
              <a:rPr sz="600" b="0">
                <a:solidFill>
                  <a:srgbClr val="1B1B2B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</a:rPr>
              <a:t>致谢：本汇报按 nature-skills（Yuan1z0825）的 nature-paper2ppt 工作流生成。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